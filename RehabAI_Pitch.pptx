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3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822960"/>
            <a:ext cx="1554480" cy="15544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/tmp/rehabai_ppt/icons/wal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8962" y="1025042"/>
            <a:ext cx="1150315" cy="115031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33172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RehabAI</a:t>
            </a:r>
            <a:endParaRPr lang="en-US" sz="60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342900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rgbClr val="CF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phone that watches you recover, and tells tomorrow what to do differently.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777240" y="4343400"/>
            <a:ext cx="5852160" cy="502920"/>
          </a:xfrm>
          <a:prstGeom prst="roundRect">
            <a:avLst>
              <a:gd name="adj" fmla="val 50909"/>
            </a:avLst>
          </a:prstGeom>
          <a:solidFill>
            <a:srgbClr val="02809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43434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iQOO HACKATHON 2026   ·   HEALTHTECH TRACK   ·   ON-DEVICE AI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F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the idea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is real, and it's growing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Rehab is a capacity problem. It needs a multiplier, not just more headcount.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3246120"/>
          </a:xfrm>
          <a:prstGeom prst="roundRect">
            <a:avLst>
              <a:gd name="adj" fmla="val 3944"/>
            </a:avLst>
          </a:prstGeom>
          <a:solidFill>
            <a:srgbClr val="F1F7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33172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tmp/rehabai_ppt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608" y="2444648"/>
            <a:ext cx="642823" cy="64282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3375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2.4B</a:t>
            </a:r>
            <a:endParaRPr lang="en-US" sz="5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2976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worldwide live with a condition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could benefit from rehabilitation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1965960"/>
            <a:ext cx="3520440" cy="3246120"/>
          </a:xfrm>
          <a:prstGeom prst="roundRect">
            <a:avLst>
              <a:gd name="adj" fmla="val 3944"/>
            </a:avLst>
          </a:prstGeom>
          <a:solidFill>
            <a:srgbClr val="F1F7F7"/>
          </a:solidFill>
          <a:ln/>
        </p:spPr>
      </p:sp>
      <p:sp>
        <p:nvSpPr>
          <p:cNvPr id="10" name="Shape 7"/>
          <p:cNvSpPr/>
          <p:nvPr/>
        </p:nvSpPr>
        <p:spPr>
          <a:xfrm>
            <a:off x="4709160" y="2331720"/>
            <a:ext cx="868680" cy="8686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/tmp/rehabai_ppt/icons/stethosco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088" y="2444648"/>
            <a:ext cx="642823" cy="64282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63440" y="33375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600K</a:t>
            </a:r>
            <a:endParaRPr lang="en-US" sz="5200" dirty="0"/>
          </a:p>
        </p:txBody>
      </p:sp>
      <p:sp>
        <p:nvSpPr>
          <p:cNvPr id="13" name="Text 9"/>
          <p:cNvSpPr txBox="1"/>
          <p:nvPr/>
        </p:nvSpPr>
        <p:spPr>
          <a:xfrm>
            <a:off x="4663440" y="42976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physiotherapists worldwide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(World Physiotherapy membership count)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0" y="1965960"/>
            <a:ext cx="3520440" cy="3246120"/>
          </a:xfrm>
          <a:prstGeom prst="roundRect">
            <a:avLst>
              <a:gd name="adj" fmla="val 3944"/>
            </a:avLst>
          </a:prstGeom>
          <a:solidFill>
            <a:srgbClr val="F1F7F7"/>
          </a:solidFill>
          <a:ln/>
        </p:spPr>
      </p:sp>
      <p:sp>
        <p:nvSpPr>
          <p:cNvPr id="15" name="Shape 11"/>
          <p:cNvSpPr/>
          <p:nvPr/>
        </p:nvSpPr>
        <p:spPr>
          <a:xfrm>
            <a:off x="8549640" y="2331720"/>
            <a:ext cx="868680" cy="8686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2" descr="/tmp/rehabai_ppt/icons/bulls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2568" y="2444648"/>
            <a:ext cx="642823" cy="64282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503920" y="33375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&lt;10</a:t>
            </a:r>
            <a:endParaRPr lang="en-US" sz="5200" dirty="0"/>
          </a:p>
        </p:txBody>
      </p:sp>
      <p:sp>
        <p:nvSpPr>
          <p:cNvPr id="18" name="Text 13"/>
          <p:cNvSpPr txBox="1"/>
          <p:nvPr/>
        </p:nvSpPr>
        <p:spPr>
          <a:xfrm>
            <a:off x="8503920" y="42976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skilled rehab practitioners per million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people, in many LMIC settings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5321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WHO Rehabilitation Fact Sheet · World Physiotherapy Annual Membership Census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RehabAI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failure isn't the exercise sheet.</a:t>
            </a:r>
            <a:endParaRPr lang="en-US" sz="2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a muscle that won't fire.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7452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knee replacement or ACL repair, the quad often stops firing correctly — a reflex response to joint pain and swelling called </a:t>
            </a:r>
            <a:pPr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arthrogenic muscle inhibition (AMI)</a:t>
            </a:r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4612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compensate without knowing it — standing up by leaning on their hips instead of pushing through the knee. A printed home-exercise sheet can't catch this. Nobody's watching between appointments.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80760" y="1783080"/>
            <a:ext cx="5577840" cy="1783080"/>
          </a:xfrm>
          <a:prstGeom prst="roundRect">
            <a:avLst>
              <a:gd name="adj" fmla="val 7179"/>
            </a:avLst>
          </a:prstGeom>
          <a:solidFill>
            <a:srgbClr val="E7F2F1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0" y="2084832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7" name="Image 0" descr="/tmp/rehabai_ppt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1841" y="2185873"/>
            <a:ext cx="575158" cy="57515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60920" y="1965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happen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60920" y="2395728"/>
            <a:ext cx="3977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Knee-dominant rise — the patient pushes up through the knee, the injured leg does its share of the work.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080760" y="3794760"/>
            <a:ext cx="5577840" cy="1783080"/>
          </a:xfrm>
          <a:prstGeom prst="roundRect">
            <a:avLst>
              <a:gd name="adj" fmla="val 7179"/>
            </a:avLst>
          </a:prstGeom>
          <a:solidFill>
            <a:srgbClr val="FBEDEC"/>
          </a:solidFill>
          <a:ln/>
        </p:spPr>
      </p:sp>
      <p:sp>
        <p:nvSpPr>
          <p:cNvPr id="11" name="Shape 8"/>
          <p:cNvSpPr/>
          <p:nvPr/>
        </p:nvSpPr>
        <p:spPr>
          <a:xfrm>
            <a:off x="6400800" y="4096512"/>
            <a:ext cx="777240" cy="777240"/>
          </a:xfrm>
          <a:prstGeom prst="ellipse">
            <a:avLst/>
          </a:prstGeom>
          <a:solidFill>
            <a:srgbClr val="C4453B"/>
          </a:solidFill>
          <a:ln/>
        </p:spPr>
      </p:sp>
      <p:pic>
        <p:nvPicPr>
          <p:cNvPr id="12" name="Image 1" descr="/tmp/rehabai_ppt/icons/walk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841" y="4197553"/>
            <a:ext cx="575158" cy="57515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60920" y="3977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happens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360920" y="4407408"/>
            <a:ext cx="3977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Hip-dominant compensation — the patient leans forward and drives through the hips, the knee barely does any work at all.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RehabAI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 measures depth. Nobody measures strategy.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camera-based rehab space isn't empty — being honest about that shapes what we lead with.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87452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2990088" y="187452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6236208" y="1874520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/ built for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0030968" y="187452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strategy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(hip vs. knee)?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532888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Kemtai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990088" y="2532888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form correction, FDA-designated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236208" y="2532888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&amp; digital health platforms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030968" y="253288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B0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191256"/>
            <a:ext cx="11292840" cy="0"/>
          </a:xfrm>
          <a:prstGeom prst="line">
            <a:avLst/>
          </a:prstGeom>
          <a:noFill/>
          <a:ln w="9525">
            <a:solidFill>
              <a:srgbClr val="DCE7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3191256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Sword / Hinge Health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990088" y="3191256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coaches + telehealth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236208" y="3191256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employer health benefits ($2B+ valuation)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0030968" y="319125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B0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849624"/>
            <a:ext cx="11292840" cy="0"/>
          </a:xfrm>
          <a:prstGeom prst="line">
            <a:avLst/>
          </a:prstGeom>
          <a:noFill/>
          <a:ln w="9525">
            <a:solidFill>
              <a:srgbClr val="DCE7E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3849624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Resolve360 (Bengaluru)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2990088" y="3849624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AI-AR, claims 3x capacity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236208" y="3849624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India, direct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0030968" y="384962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B04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507992"/>
            <a:ext cx="11292840" cy="0"/>
          </a:xfrm>
          <a:prstGeom prst="line">
            <a:avLst/>
          </a:prstGeom>
          <a:noFill/>
          <a:ln w="9525">
            <a:solidFill>
              <a:srgbClr val="DCE7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" y="4480560"/>
            <a:ext cx="11439144" cy="676656"/>
          </a:xfrm>
          <a:prstGeom prst="roundRect">
            <a:avLst>
              <a:gd name="adj" fmla="val 10811"/>
            </a:avLst>
          </a:prstGeom>
          <a:solidFill>
            <a:srgbClr val="E7F2F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8368" y="4507992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RehabAI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2990088" y="4507992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compensation detection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236208" y="4507992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Patient's own phone, no cloud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10030968" y="450799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166360"/>
            <a:ext cx="11292840" cy="0"/>
          </a:xfrm>
          <a:prstGeom prst="line">
            <a:avLst/>
          </a:prstGeom>
          <a:noFill/>
          <a:ln w="9525">
            <a:solidFill>
              <a:srgbClr val="DCE7E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RehabAI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3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mistakes we didn't make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49240" cy="3063240"/>
          </a:xfrm>
          <a:prstGeom prst="roundRect">
            <a:avLst>
              <a:gd name="adj" fmla="val 4179"/>
            </a:avLst>
          </a:prstGeom>
          <a:solidFill>
            <a:srgbClr val="0E4E52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9202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tmp/rehabai_ppt/icons/eyesl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385" y="2027225"/>
            <a:ext cx="608990" cy="6089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292608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score what a camera can't see</a:t>
            </a:r>
            <a:endParaRPr lang="en-US" sz="165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61188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earlier version tried to grade knee swelling from a photo. Lighting fakes that — a dim room reads as “more swollen” no matter what the knee is actually doing.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0" y="1554480"/>
            <a:ext cx="5349240" cy="3063240"/>
          </a:xfrm>
          <a:prstGeom prst="roundRect">
            <a:avLst>
              <a:gd name="adj" fmla="val 4179"/>
            </a:avLst>
          </a:prstGeom>
          <a:solidFill>
            <a:srgbClr val="0E4E52"/>
          </a:solidFill>
          <a:ln/>
        </p:spPr>
      </p:sp>
      <p:sp>
        <p:nvSpPr>
          <p:cNvPr id="9" name="Shape 6"/>
          <p:cNvSpPr/>
          <p:nvPr/>
        </p:nvSpPr>
        <p:spPr>
          <a:xfrm>
            <a:off x="6766560" y="192024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/tmp/rehabai_ppt/icons/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3545" y="2027225"/>
            <a:ext cx="608990" cy="6089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766560" y="292608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overclaim what it can</a:t>
            </a:r>
            <a:endParaRPr lang="en-US" sz="1650" dirty="0"/>
          </a:p>
        </p:txBody>
      </p:sp>
      <p:sp>
        <p:nvSpPr>
          <p:cNvPr id="12" name="Text 8"/>
          <p:cNvSpPr txBox="1"/>
          <p:nvPr/>
        </p:nvSpPr>
        <p:spPr>
          <a:xfrm>
            <a:off x="6766560" y="361188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camera can't see muscle activation — that's electrical, EMG-only. And a left-right symmetry ratio has a known blind spot: both legs can weaken together and still look “fine.”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937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E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left: movement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E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hip-dominant vs. knee-dominant. Physios already watch for it. Now the phone does too.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RehabAI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90-second loop, every day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266444" y="2377440"/>
            <a:ext cx="1143000" cy="11430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/tmp/rehabai_ppt/icons/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5034" y="2526030"/>
            <a:ext cx="845820" cy="8458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3685032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4050792"/>
            <a:ext cx="212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+ swelling,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or voice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519172" y="2948940"/>
            <a:ext cx="758952" cy="0"/>
          </a:xfrm>
          <a:prstGeom prst="line">
            <a:avLst/>
          </a:prstGeom>
          <a:noFill/>
          <a:ln w="25400">
            <a:solidFill>
              <a:srgbClr val="BFD9D7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3387852" y="2377440"/>
            <a:ext cx="1143000" cy="11430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1" descr="/tmp/rehabai_ppt/icons/chai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6442" y="2526030"/>
            <a:ext cx="845820" cy="8458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898648" y="3685032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exercise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2898648" y="4050792"/>
            <a:ext cx="212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sit-to-stand,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watching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640580" y="2948940"/>
            <a:ext cx="758952" cy="0"/>
          </a:xfrm>
          <a:prstGeom prst="line">
            <a:avLst/>
          </a:prstGeom>
          <a:noFill/>
          <a:ln w="25400">
            <a:solidFill>
              <a:srgbClr val="BFD9D7"/>
            </a:solidFill>
            <a:prstDash val="dash"/>
          </a:ln>
        </p:spPr>
      </p:sp>
      <p:sp>
        <p:nvSpPr>
          <p:cNvPr id="13" name="Shape 9"/>
          <p:cNvSpPr/>
          <p:nvPr/>
        </p:nvSpPr>
        <p:spPr>
          <a:xfrm>
            <a:off x="5509260" y="2377440"/>
            <a:ext cx="1143000" cy="11430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2" descr="/tmp/rehabai_ppt/icons/bo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7850" y="2526030"/>
            <a:ext cx="845820" cy="8458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020056" y="3685032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350" dirty="0"/>
          </a:p>
        </p:txBody>
      </p:sp>
      <p:sp>
        <p:nvSpPr>
          <p:cNvPr id="16" name="Text 11"/>
          <p:cNvSpPr txBox="1"/>
          <p:nvPr/>
        </p:nvSpPr>
        <p:spPr>
          <a:xfrm>
            <a:off x="5020056" y="4050792"/>
            <a:ext cx="212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hip- vs knee-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strategy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761988" y="2948940"/>
            <a:ext cx="758952" cy="0"/>
          </a:xfrm>
          <a:prstGeom prst="line">
            <a:avLst/>
          </a:prstGeom>
          <a:noFill/>
          <a:ln w="25400">
            <a:solidFill>
              <a:srgbClr val="BFD9D7"/>
            </a:solidFill>
            <a:prstDash val="dash"/>
          </a:ln>
        </p:spPr>
      </p:sp>
      <p:sp>
        <p:nvSpPr>
          <p:cNvPr id="18" name="Shape 13"/>
          <p:cNvSpPr/>
          <p:nvPr/>
        </p:nvSpPr>
        <p:spPr>
          <a:xfrm>
            <a:off x="7630668" y="2377440"/>
            <a:ext cx="1143000" cy="1143000"/>
          </a:xfrm>
          <a:prstGeom prst="ellipse">
            <a:avLst/>
          </a:prstGeom>
          <a:solidFill>
            <a:srgbClr val="C4453B"/>
          </a:solidFill>
          <a:ln/>
        </p:spPr>
      </p:sp>
      <p:pic>
        <p:nvPicPr>
          <p:cNvPr id="19" name="Image 3" descr="/tmp/rehabai_ppt/icons/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9258" y="2526030"/>
            <a:ext cx="845820" cy="8458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141464" y="3685032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can say no</a:t>
            </a:r>
            <a:endParaRPr lang="en-US" sz="1350" dirty="0"/>
          </a:p>
        </p:txBody>
      </p:sp>
      <p:sp>
        <p:nvSpPr>
          <p:cNvPr id="21" name="Text 15"/>
          <p:cNvSpPr txBox="1"/>
          <p:nvPr/>
        </p:nvSpPr>
        <p:spPr>
          <a:xfrm>
            <a:off x="7141464" y="4050792"/>
            <a:ext cx="212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moves lock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bad day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8883396" y="2948940"/>
            <a:ext cx="758952" cy="0"/>
          </a:xfrm>
          <a:prstGeom prst="line">
            <a:avLst/>
          </a:prstGeom>
          <a:noFill/>
          <a:ln w="25400">
            <a:solidFill>
              <a:srgbClr val="BFD9D7"/>
            </a:solidFill>
            <a:prstDash val="dash"/>
          </a:ln>
        </p:spPr>
      </p:sp>
      <p:sp>
        <p:nvSpPr>
          <p:cNvPr id="23" name="Shape 17"/>
          <p:cNvSpPr/>
          <p:nvPr/>
        </p:nvSpPr>
        <p:spPr>
          <a:xfrm>
            <a:off x="9752076" y="2377440"/>
            <a:ext cx="1143000" cy="11430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4" name="Image 4" descr="/tmp/rehabai_ppt/icons/calend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0666" y="2526030"/>
            <a:ext cx="845820" cy="84582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9262872" y="3685032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adapts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9262872" y="4050792"/>
            <a:ext cx="212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regenerates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today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777240" y="5166360"/>
            <a:ext cx="10607040" cy="822960"/>
          </a:xfrm>
          <a:prstGeom prst="roundRect">
            <a:avLst>
              <a:gd name="adj" fmla="val 13333"/>
            </a:avLst>
          </a:prstGeom>
          <a:solidFill>
            <a:srgbClr val="F1F7F7"/>
          </a:solidFill>
          <a:ln/>
        </p:spPr>
      </p:sp>
      <p:sp>
        <p:nvSpPr>
          <p:cNvPr id="28" name="Shape 21"/>
          <p:cNvSpPr/>
          <p:nvPr/>
        </p:nvSpPr>
        <p:spPr>
          <a:xfrm>
            <a:off x="1005840" y="530352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9" name="Image 5" descr="/tmp/rehabai_ppt/icons/filem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7163" y="5374843"/>
            <a:ext cx="405994" cy="405994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783080" y="525780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Anytime: a printable recovery sheet — swelling trend, compensation frequency, blocked and unlocked dates — to bring to the surgeon.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RehabAI</a:t>
            </a:r>
            <a:endParaRPr lang="en-US" sz="1000" dirty="0"/>
          </a:p>
        </p:txBody>
      </p:sp>
      <p:sp>
        <p:nvSpPr>
          <p:cNvPr id="32" name="Text 24"/>
          <p:cNvSpPr txBox="1"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3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models. Three jobs. Nothing leaves the phone.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3429000" cy="3246120"/>
          </a:xfrm>
          <a:prstGeom prst="roundRect">
            <a:avLst>
              <a:gd name="adj" fmla="val 3944"/>
            </a:avLst>
          </a:prstGeom>
          <a:solidFill>
            <a:srgbClr val="0E4E52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0" y="2011680"/>
            <a:ext cx="868680" cy="8686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/tmp/rehabai_ppt/icons/came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1728" y="2124608"/>
            <a:ext cx="642823" cy="64282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30632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5204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LiteRT + Qualcomm QNN delegate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0690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frames → keypoints. Perception only, no judgment.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97680" y="1645920"/>
            <a:ext cx="3429000" cy="3246120"/>
          </a:xfrm>
          <a:prstGeom prst="roundRect">
            <a:avLst>
              <a:gd name="adj" fmla="val 3944"/>
            </a:avLst>
          </a:prstGeom>
          <a:solidFill>
            <a:srgbClr val="0E4E52"/>
          </a:solidFill>
          <a:ln/>
        </p:spPr>
      </p:sp>
      <p:sp>
        <p:nvSpPr>
          <p:cNvPr id="10" name="Shape 7"/>
          <p:cNvSpPr/>
          <p:nvPr/>
        </p:nvSpPr>
        <p:spPr>
          <a:xfrm>
            <a:off x="5577840" y="2011680"/>
            <a:ext cx="868680" cy="8686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1" descr="/tmp/rehabai_ppt/icons/microph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0768" y="2124608"/>
            <a:ext cx="642823" cy="64282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26280" y="30632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35204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Tiny, on-device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40690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→ the same structured check-in fields a tap would produce.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046720" y="1645920"/>
            <a:ext cx="3429000" cy="3246120"/>
          </a:xfrm>
          <a:prstGeom prst="roundRect">
            <a:avLst>
              <a:gd name="adj" fmla="val 3944"/>
            </a:avLst>
          </a:prstGeom>
          <a:solidFill>
            <a:srgbClr val="0E4E52"/>
          </a:solidFill>
          <a:ln/>
        </p:spPr>
      </p:sp>
      <p:sp>
        <p:nvSpPr>
          <p:cNvPr id="16" name="Shape 12"/>
          <p:cNvSpPr/>
          <p:nvPr/>
        </p:nvSpPr>
        <p:spPr>
          <a:xfrm>
            <a:off x="9326880" y="2011680"/>
            <a:ext cx="868680" cy="8686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7" name="Image 2" descr="/tmp/rehabai_ppt/icons/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9808" y="2124608"/>
            <a:ext cx="642823" cy="64282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275320" y="30632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275320" y="35204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2B or Phi-3, on-device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8321040" y="40690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Phrases a decision already made deterministically. Never makes it.</a:t>
            </a:r>
            <a:endParaRPr lang="en-US" sz="115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5166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safety. Generative framing. The generative layer never touches the decision.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RehabAI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Android · Kotlin · Snapdragon NPU inference throughout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99516" y="233172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F1F7F7"/>
          </a:solidFill>
          <a:ln w="12700">
            <a:solidFill>
              <a:srgbClr val="BFD9D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5236" y="23317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91156" y="2788920"/>
            <a:ext cx="128016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519172" y="233172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F1F7F7"/>
          </a:solidFill>
          <a:ln w="12700">
            <a:solidFill>
              <a:srgbClr val="BFD9D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4892" y="23317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(LiteRT + QNN)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10812" y="2788920"/>
            <a:ext cx="128016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38828" y="233172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F1F7F7"/>
          </a:solidFill>
          <a:ln w="12700">
            <a:solidFill>
              <a:srgbClr val="BFD9D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84548" y="23317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0468" y="2788920"/>
            <a:ext cx="128016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158484" y="233172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 w="12700">
            <a:solidFill>
              <a:srgbClr val="BFD9D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04204" y="23317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(deterministic)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50124" y="2788920"/>
            <a:ext cx="128016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978140" y="233172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F1F7F7"/>
          </a:solidFill>
          <a:ln w="12700">
            <a:solidFill>
              <a:srgbClr val="BFD9D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23860" y="23317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(on-device LLM)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669780" y="2788920"/>
            <a:ext cx="128016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797796" y="2331720"/>
            <a:ext cx="1691640" cy="914400"/>
          </a:xfrm>
          <a:prstGeom prst="roundRect">
            <a:avLst>
              <a:gd name="adj" fmla="val 10000"/>
            </a:avLst>
          </a:prstGeom>
          <a:solidFill>
            <a:srgbClr val="F1F7F7"/>
          </a:solidFill>
          <a:ln w="12700">
            <a:solidFill>
              <a:srgbClr val="BFD9D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43516" y="23317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(Compose)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9516" y="3794760"/>
            <a:ext cx="10789920" cy="777240"/>
          </a:xfrm>
          <a:prstGeom prst="roundRect">
            <a:avLst>
              <a:gd name="adj" fmla="val 11765"/>
            </a:avLst>
          </a:prstGeom>
          <a:solidFill>
            <a:srgbClr val="FAFAFA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2396" y="37947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Room / SQLite database — session summaries only, never raw video or audio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99516" y="4846320"/>
            <a:ext cx="10789920" cy="777240"/>
          </a:xfrm>
          <a:prstGeom prst="roundRect">
            <a:avLst>
              <a:gd name="adj" fmla="val 11765"/>
            </a:avLst>
          </a:prstGeom>
          <a:solidFill>
            <a:srgbClr val="E7F2F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82396" y="48463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Kit (phone ↔ laptop): dev workflow during build, recovery-sheet export — never on the runtime critical path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RehabAI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score, not just to demo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rubric, all four cities. This maps line by line — not by coincidence.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20240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product quality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3474720" y="1920240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389120" y="1920240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Jury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1920240"/>
            <a:ext cx="5806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working daily loop — not a tech demo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11064240" cy="0"/>
          </a:xfrm>
          <a:prstGeom prst="line">
            <a:avLst/>
          </a:prstGeom>
          <a:noFill/>
          <a:ln w="9525">
            <a:solidFill>
              <a:srgbClr val="DCE7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542032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&amp; impact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542032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2542032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Jury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760720" y="2542032"/>
            <a:ext cx="5806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detection, not rep-counting or ROM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163824"/>
            <a:ext cx="11064240" cy="0"/>
          </a:xfrm>
          <a:prstGeom prst="line">
            <a:avLst/>
          </a:prstGeom>
          <a:noFill/>
          <a:ln w="9525">
            <a:solidFill>
              <a:srgbClr val="DCE7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163824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phone use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3163824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389120" y="3163824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data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760720" y="3163824"/>
            <a:ext cx="5806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camera + voice + on-device AI, all telemetry-verified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785616"/>
            <a:ext cx="11064240" cy="0"/>
          </a:xfrm>
          <a:prstGeom prst="line">
            <a:avLst/>
          </a:prstGeom>
          <a:noFill/>
          <a:ln w="9525">
            <a:solidFill>
              <a:srgbClr val="DCE7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785616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depth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474720" y="3785616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389120" y="3785616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Jury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760720" y="3785616"/>
            <a:ext cx="5806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NPU inference via LiteRT + QNN, not a cloud wrapper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407408"/>
            <a:ext cx="11064240" cy="0"/>
          </a:xfrm>
          <a:prstGeom prst="line">
            <a:avLst/>
          </a:prstGeom>
          <a:noFill/>
          <a:ln w="9525">
            <a:solidFill>
              <a:srgbClr val="DCE7E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4407408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Kit usage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3474720" y="4407408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389120" y="4407408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data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760720" y="4407408"/>
            <a:ext cx="5806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dev workflow + recovery-sheet export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029200"/>
            <a:ext cx="11064240" cy="0"/>
          </a:xfrm>
          <a:prstGeom prst="line">
            <a:avLst/>
          </a:prstGeom>
          <a:noFill/>
          <a:ln w="9525">
            <a:solidFill>
              <a:srgbClr val="DCE7E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5029200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presentation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3474720" y="5029200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4389120" y="5029200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Jury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760720" y="5029200"/>
            <a:ext cx="5806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visible “aha”: the plan changes in front of you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48640" y="5650992"/>
            <a:ext cx="11064240" cy="0"/>
          </a:xfrm>
          <a:prstGeom prst="line">
            <a:avLst/>
          </a:prstGeom>
          <a:noFill/>
          <a:ln w="9525">
            <a:solidFill>
              <a:srgbClr val="DCE7E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RehabAI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demo — three minutes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77240" y="164592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16002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from a chair, phone propped up. On-device NPU inference is visibly running — no network, no spinner.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1074420" y="2240280"/>
            <a:ext cx="0" cy="320040"/>
          </a:xfrm>
          <a:prstGeom prst="line">
            <a:avLst/>
          </a:prstGeom>
          <a:noFill/>
          <a:ln w="19050">
            <a:solidFill>
              <a:srgbClr val="BFD9D7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77240" y="260604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606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56032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camera catches a hip-dominant rep, live — a calm on-screen “noticed” cue, not an alarm.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1074420" y="3200400"/>
            <a:ext cx="0" cy="320040"/>
          </a:xfrm>
          <a:prstGeom prst="line">
            <a:avLst/>
          </a:prstGeom>
          <a:noFill/>
          <a:ln w="19050">
            <a:solidFill>
              <a:srgbClr val="BFD9D7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777240" y="356616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566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352044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 by voice: “pain's about a 4 today, a bit more swollen.” Whisper Tiny transcribes it on-device.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1074420" y="4160520"/>
            <a:ext cx="0" cy="320040"/>
          </a:xfrm>
          <a:prstGeom prst="line">
            <a:avLst/>
          </a:prstGeom>
          <a:noFill/>
          <a:ln w="19050">
            <a:solidFill>
              <a:srgbClr val="BFD9D7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777240" y="452628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526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4805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Tomorrow's plan visibly changes — a loaded exercise locks, with a plain-language reason.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8064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“aha” is the plan changing from what actually happened — plus the camera refusing to pretend when it isn't sure.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RehabAI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3520440" cy="502920"/>
          </a:xfrm>
          <a:prstGeom prst="roundRect">
            <a:avLst>
              <a:gd name="adj" fmla="val 50909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hackathon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35204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Sit-to-stand, phone-native</a:t>
            </a:r>
            <a:endParaRPr lang="en-US" sz="130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vision, voice, language</a:t>
            </a:r>
            <a:endParaRPr lang="en-US" sz="130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→ lock → adapt loop</a:t>
            </a:r>
            <a:endParaRPr lang="en-US" sz="130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sheet export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0" y="1508760"/>
            <a:ext cx="3520440" cy="502920"/>
          </a:xfrm>
          <a:prstGeom prst="roundRect">
            <a:avLst>
              <a:gd name="adj" fmla="val 50909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389120" y="15087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2194560"/>
            <a:ext cx="35204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exercises, same strategy lens</a:t>
            </a:r>
            <a:endParaRPr lang="en-US" sz="130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end-of-session summaries</a:t>
            </a:r>
            <a:endParaRPr lang="en-US" sz="130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Multi-day trend view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0" y="1508760"/>
            <a:ext cx="3520440" cy="502920"/>
          </a:xfrm>
          <a:prstGeom prst="roundRect">
            <a:avLst>
              <a:gd name="adj" fmla="val 50909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0" y="15087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2194560"/>
            <a:ext cx="35204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Supervising-physio escalation queue</a:t>
            </a:r>
            <a:endParaRPr lang="en-US" sz="130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discharge pilot</a:t>
            </a:r>
            <a:endParaRPr lang="en-US" sz="130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only — still no raw video leaving the device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RehabAI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3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 billion people.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 thousand physiotherapists.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32461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phone every one of them already carries should be able to help close that gap.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77240" y="4297680"/>
            <a:ext cx="2834640" cy="68580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42976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RehabAI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3840480" y="42976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it.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RehabAI · iQOO Hackathon 2026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36599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2026-09-01T03:24:45Z</dcterms:created>
  <dcterms:modified xsi:type="dcterms:W3CDTF">2026-09-01T03:24:45Z</dcterms:modified>
</cp:coreProperties>
</file>