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FILE REF: RH-2026-HT   ·   STATUS: PROTOTYPE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0116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-100" kern="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</a:t>
            </a:r>
            <a:endParaRPr lang="en-US" sz="9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6118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A312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phone that watches you recover, and tells tomorrow what to do differently.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5440680"/>
            <a:ext cx="11183112" cy="0"/>
          </a:xfrm>
          <a:prstGeom prst="line">
            <a:avLst/>
          </a:prstGeom>
          <a:noFill/>
          <a:ln w="25400">
            <a:solidFill>
              <a:srgbClr val="190F0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55961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TRACK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852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HealthTech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55961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TEAM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5852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[Team Name]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5961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MEMBERS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58521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[Member 1] · [Member 2] · [Member 3] · [Member 4]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55961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[Your Institution]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"/>
            <a:ext cx="0" cy="411480"/>
          </a:xfrm>
          <a:prstGeom prst="line">
            <a:avLst/>
          </a:prstGeom>
          <a:noFill/>
          <a:ln w="25400">
            <a:solidFill>
              <a:srgbClr val="B71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Idea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9050">
            <a:solidFill>
              <a:srgbClr val="190F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— Recovery, Verified.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/ 08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005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 fails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between appointments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RehabAI turns the patient's own phone into what's missing there — camera, voice, and on-device AI, run through one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90-second daily loop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977847" y="2340864"/>
            <a:ext cx="1523390" cy="0"/>
          </a:xfrm>
          <a:prstGeom prst="line">
            <a:avLst/>
          </a:prstGeom>
          <a:noFill/>
          <a:ln w="15875">
            <a:solidFill>
              <a:srgbClr val="5C514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337767" y="2057400"/>
            <a:ext cx="566928" cy="566928"/>
          </a:xfrm>
          <a:prstGeom prst="ellipse">
            <a:avLst/>
          </a:prstGeom>
          <a:ln w="28575">
            <a:solidFill>
              <a:srgbClr val="B71D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37767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761488"/>
            <a:ext cx="22366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" kern="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 In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081528"/>
            <a:ext cx="2328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pain + swelling, tap or voice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14470" y="2340864"/>
            <a:ext cx="1523390" cy="0"/>
          </a:xfrm>
          <a:prstGeom prst="line">
            <a:avLst/>
          </a:prstGeom>
          <a:noFill/>
          <a:ln w="15875">
            <a:solidFill>
              <a:srgbClr val="5C514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574390" y="2057400"/>
            <a:ext cx="566928" cy="566928"/>
          </a:xfrm>
          <a:prstGeom prst="ellipse">
            <a:avLst/>
          </a:prstGeom>
          <a:ln w="28575">
            <a:solidFill>
              <a:srgbClr val="B71D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7439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739542" y="2761488"/>
            <a:ext cx="22366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" kern="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 The Exercise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693822" y="3081528"/>
            <a:ext cx="2328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sit-to-stand, phone watching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51092" y="2340864"/>
            <a:ext cx="1523390" cy="0"/>
          </a:xfrm>
          <a:prstGeom prst="line">
            <a:avLst/>
          </a:prstGeom>
          <a:noFill/>
          <a:ln w="15875">
            <a:solidFill>
              <a:srgbClr val="5C514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811012" y="2057400"/>
            <a:ext cx="566928" cy="566928"/>
          </a:xfrm>
          <a:prstGeom prst="ellipse">
            <a:avLst/>
          </a:prstGeom>
          <a:ln w="28575">
            <a:solidFill>
              <a:srgbClr val="B71D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1101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976165" y="2761488"/>
            <a:ext cx="22366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" kern="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 &amp; Cue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930445" y="3081528"/>
            <a:ext cx="2328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flagged live, said out loud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7714" y="2340864"/>
            <a:ext cx="1523390" cy="0"/>
          </a:xfrm>
          <a:prstGeom prst="line">
            <a:avLst/>
          </a:prstGeom>
          <a:noFill/>
          <a:ln w="15875">
            <a:solidFill>
              <a:srgbClr val="5C514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047634" y="2057400"/>
            <a:ext cx="566928" cy="566928"/>
          </a:xfrm>
          <a:prstGeom prst="ellipse">
            <a:avLst/>
          </a:prstGeom>
          <a:ln w="28575">
            <a:solidFill>
              <a:srgbClr val="B71D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763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212787" y="2761488"/>
            <a:ext cx="22366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" kern="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Can Say No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67067" y="3081528"/>
            <a:ext cx="2328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loaded moves lock on a bad day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284257" y="2057400"/>
            <a:ext cx="566928" cy="566928"/>
          </a:xfrm>
          <a:prstGeom prst="ellipse">
            <a:avLst/>
          </a:prstGeom>
          <a:ln w="28575">
            <a:solidFill>
              <a:srgbClr val="B71D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84257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449410" y="2761488"/>
            <a:ext cx="22366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" kern="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Tomorrow Adapts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403690" y="3081528"/>
            <a:ext cx="2328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 regenerates from today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4160520"/>
            <a:ext cx="531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44805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Post-knee-replacement and post-ACL patients, mid-recovery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Regions with fewer than 10 rehab practitioners per million people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Anyone whose exercise sheet has no one watching it get done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368796" y="4160520"/>
            <a:ext cx="531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BUILT ON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368796" y="44805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Fully on-device — camera, voice, and inference never leave the phone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printable recovery sheet, generated anytime, for the clinic visit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Deterministic safety: the AI phrases decisions, never makes them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"/>
            <a:ext cx="0" cy="411480"/>
          </a:xfrm>
          <a:prstGeom prst="line">
            <a:avLst/>
          </a:prstGeom>
          <a:noFill/>
          <a:ln w="25400">
            <a:solidFill>
              <a:srgbClr val="B71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Novelty &amp; USP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9050">
            <a:solidFill>
              <a:srgbClr val="190F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— Recovery, Verified.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/ 08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1051560"/>
            <a:ext cx="2274570" cy="141732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" y="1161288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EXISTING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" y="1453896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Camera-based rehab apps already exist — Kemtai, Sword/Hinge Health, Resolve360.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77490" y="1051560"/>
            <a:ext cx="694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72434" y="1051560"/>
            <a:ext cx="2274570" cy="141732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00450" y="1161288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00450" y="1453896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of them measure range of motion or rep count. None measure compensation strategy.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47004" y="1051560"/>
            <a:ext cx="694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41948" y="1051560"/>
            <a:ext cx="2274570" cy="1417320"/>
          </a:xfrm>
          <a:prstGeom prst="rect">
            <a:avLst/>
          </a:prstGeom>
          <a:solidFill>
            <a:srgbClr val="F1DCD5"/>
          </a:solidFill>
          <a:ln w="25400">
            <a:solidFill>
              <a:srgbClr val="B71D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9964" y="1161288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OUR INNOVATION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69964" y="1453896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detects hip- vs. knee-dominant sit-to-stand, live — the same sign a physio watches for.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716518" y="1051560"/>
            <a:ext cx="694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411462" y="1051560"/>
            <a:ext cx="2274570" cy="141732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39478" y="1161288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BENEFIT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539478" y="1453896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Catches arthrogenic muscle inhibition before it becomes a bigger setback. No cloud, no extra hardware.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3063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Solution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898648" y="3063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Approach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30632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Priced / Built For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305288" y="3063240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Measures Strategy?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3593592"/>
            <a:ext cx="1127455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" y="359359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Kemtai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898648" y="35935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Real-time form correction, FDA-designated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922008" y="35935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Providers &amp; digital health platforms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305288" y="3593592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" y="4123944"/>
            <a:ext cx="1127455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2648" y="412394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Sword / Hinge Health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898648" y="41239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Human coaches + telehealth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22008" y="41239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 employer health benefits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305288" y="4123944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" y="4654296"/>
            <a:ext cx="1127455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2648" y="46542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Resolve360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898648" y="465429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Camera AI-AR, claims 3× capacity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922008" y="46542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India, direct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305288" y="4654296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5184648"/>
            <a:ext cx="1127455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5184648"/>
            <a:ext cx="11274552" cy="530352"/>
          </a:xfrm>
          <a:prstGeom prst="rect">
            <a:avLst/>
          </a:prstGeom>
          <a:solidFill>
            <a:srgbClr val="F1DCD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12648" y="51846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2898648" y="51846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On-device compensation detection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922008" y="51846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Patient's own phone, no cloud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305288" y="5184648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02920" y="5715000"/>
            <a:ext cx="1127455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"/>
            <a:ext cx="0" cy="411480"/>
          </a:xfrm>
          <a:prstGeom prst="line">
            <a:avLst/>
          </a:prstGeom>
          <a:noFill/>
          <a:ln w="25400">
            <a:solidFill>
              <a:srgbClr val="B71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Technical Approach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9050">
            <a:solidFill>
              <a:srgbClr val="190F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— Recovery, Verified.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/ 08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1005840"/>
            <a:ext cx="1543812" cy="77724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1005840"/>
            <a:ext cx="1452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Phone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Camera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046732" y="10058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430780" y="1005840"/>
            <a:ext cx="1543812" cy="77724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76500" y="1005840"/>
            <a:ext cx="1452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(LiteRT + QNN)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974592" y="10058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58640" y="1005840"/>
            <a:ext cx="1543812" cy="77724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04360" y="1005840"/>
            <a:ext cx="1452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Compensation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Detector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902452" y="10058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86500" y="1005840"/>
            <a:ext cx="1543812" cy="777240"/>
          </a:xfrm>
          <a:prstGeom prst="rect">
            <a:avLst/>
          </a:prstGeom>
          <a:solidFill>
            <a:srgbClr val="B71D00"/>
          </a:solidFill>
          <a:ln w="12700">
            <a:solidFill>
              <a:srgbClr val="B71D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32220" y="1005840"/>
            <a:ext cx="1452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Policy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(Deterministic)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30312" y="10058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14360" y="1005840"/>
            <a:ext cx="1543812" cy="77724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0080" y="1005840"/>
            <a:ext cx="1452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Explain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(On-Device LLM)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758172" y="10058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142220" y="1005840"/>
            <a:ext cx="1543812" cy="777240"/>
          </a:xfrm>
          <a:prstGeom prst="rect">
            <a:avLst/>
          </a:prstGeom>
          <a:solidFill>
            <a:srgbClr val="E9E1D2"/>
          </a:solidFill>
          <a:ln w="12700">
            <a:solidFill>
              <a:srgbClr val="5C514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7940" y="1005840"/>
            <a:ext cx="14523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(Compose)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2011680"/>
            <a:ext cx="11183112" cy="384048"/>
          </a:xfrm>
          <a:prstGeom prst="rect">
            <a:avLst/>
          </a:prstGeom>
          <a:ln w="12700">
            <a:solidFill>
              <a:srgbClr val="5C514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502920" y="2011680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Local Room / SQLite database — session summaries only, never raw video or audio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2468880"/>
            <a:ext cx="11183112" cy="384048"/>
          </a:xfrm>
          <a:prstGeom prst="rect">
            <a:avLst/>
          </a:prstGeom>
          <a:ln w="12700">
            <a:solidFill>
              <a:srgbClr val="5C5148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502920" y="2468880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Office Kit (phone ↔ laptop) — dev workflow during build, recovery-sheet export — never on the runtime critical path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3246120"/>
            <a:ext cx="3605784" cy="868680"/>
          </a:xfrm>
          <a:prstGeom prst="rect">
            <a:avLst/>
          </a:prstGeom>
          <a:ln w="12700">
            <a:solidFill>
              <a:srgbClr val="5C514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3337560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PLATFORM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3557016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Native Android, Kotlin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3831336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Direct, documented NPU delegate support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91584" y="3246120"/>
            <a:ext cx="3605784" cy="868680"/>
          </a:xfrm>
          <a:prstGeom prst="rect">
            <a:avLst/>
          </a:prstGeom>
          <a:ln w="12700">
            <a:solidFill>
              <a:srgbClr val="5C514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28744" y="3337560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VISION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428744" y="3557016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LiteRT + Qualcomm QNN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428744" y="3831336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6–9× speedup over CPU on Snapdragon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80248" y="3246120"/>
            <a:ext cx="3605784" cy="868680"/>
          </a:xfrm>
          <a:prstGeom prst="rect">
            <a:avLst/>
          </a:prstGeom>
          <a:ln w="12700">
            <a:solidFill>
              <a:srgbClr val="5C514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17408" y="3337560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VOICE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217408" y="3557016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Whisper Tiny, on-device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217408" y="3831336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Spoken check-in, input method only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" y="4279392"/>
            <a:ext cx="3605784" cy="868680"/>
          </a:xfrm>
          <a:prstGeom prst="rect">
            <a:avLst/>
          </a:prstGeom>
          <a:ln w="12700">
            <a:solidFill>
              <a:srgbClr val="5C514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4370832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LANGUAGE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459028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Gemma 2B or Phi-3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640080" y="486460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Phrases a decision already made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291584" y="4279392"/>
            <a:ext cx="3605784" cy="868680"/>
          </a:xfrm>
          <a:prstGeom prst="rect">
            <a:avLst/>
          </a:prstGeom>
          <a:ln w="12700">
            <a:solidFill>
              <a:srgbClr val="5C514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28744" y="4370832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STORAGE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4428744" y="459028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Room (SQLite)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4428744" y="486460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Structured summaries, never media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80248" y="4279392"/>
            <a:ext cx="3605784" cy="868680"/>
          </a:xfrm>
          <a:prstGeom prst="rect">
            <a:avLst/>
          </a:prstGeom>
          <a:ln w="12700">
            <a:solidFill>
              <a:srgbClr val="5C514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17408" y="4370832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UI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8217408" y="459028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Jetpack Compose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8217408" y="486460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Phone-shaped by construction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02920" y="5486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DETERMINISTIC SAFETY. GENERATIVE FRAMING. THE GENERATIVE LAYER NEVER TOUCHES THE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"/>
            <a:ext cx="0" cy="411480"/>
          </a:xfrm>
          <a:prstGeom prst="line">
            <a:avLst/>
          </a:prstGeom>
          <a:noFill/>
          <a:ln w="25400">
            <a:solidFill>
              <a:srgbClr val="B71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Feasibility &amp; Viability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9050">
            <a:solidFill>
              <a:srgbClr val="190F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— Recovery, Verified.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/ 08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005840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LiteRT + Qualcomm QNN is a documented, standard workflow — obtain a pretrained model, add the delegate, run through the interpreter. Google's own assessment: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“reasonably achievable”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 a small team in a hackathon timeframe. 6–9× speedup over CPU on supported Snapdragon chips.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148840"/>
            <a:ext cx="53172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 DISCIPLINE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468880"/>
            <a:ext cx="2924480" cy="365760"/>
          </a:xfrm>
          <a:prstGeom prst="rect">
            <a:avLst/>
          </a:prstGeom>
          <a:solidFill>
            <a:srgbClr val="B71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2468880"/>
            <a:ext cx="292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 LIGHT — 55%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7400" y="2468880"/>
            <a:ext cx="2392756" cy="36576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27400" y="2468880"/>
            <a:ext cx="239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GREEN LIGHT — 45%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2935224"/>
            <a:ext cx="53172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Phone-only time comes first. The highest-risk step — one pretrained model through the NPU delegate on real hardware — is derisked before any laptop-hybrid time even matters.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68796" y="2148840"/>
            <a:ext cx="53172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 &amp; INFRA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68796" y="2468880"/>
            <a:ext cx="53172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Nothing beyond the patient's own phone — no server, no cloud bill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new hardware, no sensors, no wearables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—"/>
            </a:pPr>
            <a:r>
              <a:rPr lang="en-US" sz="12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Recovery-sheet export uses Office Kit, already on the device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02336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RISK → MITIGATION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708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NPU delegate setup eats the first day on unfamiliar hardware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4370832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Isolated as the very first build step — fail fast, fall back to CPU-only LiteRT (still on-device, just slower)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937760"/>
            <a:ext cx="1118311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9377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Compensation thresholds are noisy or wrong on demo day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493776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Tuned against real, self-recorded footage during the build — not guessed numbers — then rehearsed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5504688"/>
            <a:ext cx="1118311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5046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Judges question whether “on-device AI” is real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0" y="5504688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models, three distinct jobs, shown in code — not just claimed (Slide 04)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6071616"/>
            <a:ext cx="1118311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"/>
            <a:ext cx="0" cy="411480"/>
          </a:xfrm>
          <a:prstGeom prst="line">
            <a:avLst/>
          </a:prstGeom>
          <a:noFill/>
          <a:ln w="25400">
            <a:solidFill>
              <a:srgbClr val="B71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Impact &amp; Benefits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9050">
            <a:solidFill>
              <a:srgbClr val="190F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— Recovery, Verified.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/ 08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1051560"/>
            <a:ext cx="3544824" cy="1417320"/>
          </a:xfrm>
          <a:prstGeom prst="rect">
            <a:avLst/>
          </a:prstGeom>
          <a:ln w="15875">
            <a:solidFill>
              <a:srgbClr val="190F0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1188720"/>
            <a:ext cx="3142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2.4B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" y="1892808"/>
            <a:ext cx="3142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people worldwide live with a condition that could benefit from rehabilitation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2064" y="1051560"/>
            <a:ext cx="3544824" cy="1417320"/>
          </a:xfrm>
          <a:prstGeom prst="rect">
            <a:avLst/>
          </a:prstGeom>
          <a:ln w="15875">
            <a:solidFill>
              <a:srgbClr val="190F0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3232" y="1188720"/>
            <a:ext cx="3142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600K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4523232" y="1892808"/>
            <a:ext cx="3142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physiotherapists worldwide — World Physiotherapy membership count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41208" y="1051560"/>
            <a:ext cx="3544824" cy="1417320"/>
          </a:xfrm>
          <a:prstGeom prst="rect">
            <a:avLst/>
          </a:prstGeom>
          <a:ln w="15875">
            <a:solidFill>
              <a:srgbClr val="190F0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42376" y="1188720"/>
            <a:ext cx="3142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&lt;10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8342376" y="1892808"/>
            <a:ext cx="3142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skilled rehab practitioners per million people, in many LMIC settings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2880360"/>
            <a:ext cx="53172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THE PATIENT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200400"/>
            <a:ext cx="53172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24×7 accessibility — someone is watching the exercise sheet get done, every day, not just at appointments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Fully on-device — works with no signal, and nothing leaves the phone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Catches arthrogenic muscle inhibition early, before it compounds into a bigger setback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68796" y="2880360"/>
            <a:ext cx="53172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THE SYSTEM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68796" y="3200400"/>
            <a:ext cx="53172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Scales across geographies without adding a single practitioner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printable recovery sheet turns a phone's data into something a surgeon can actually use</a:t>
            </a:r>
            <a:endParaRPr lang="en-US" sz="13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infrastructure to deploy — the multiplier is a phone patients already carry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8064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Source: WHO Rehabilitation Fact Sheet · World Physiotherapy Annual Membership Census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"/>
            <a:ext cx="0" cy="411480"/>
          </a:xfrm>
          <a:prstGeom prst="line">
            <a:avLst/>
          </a:prstGeom>
          <a:noFill/>
          <a:ln w="25400">
            <a:solidFill>
              <a:srgbClr val="B71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Prototype / Implementation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9050">
            <a:solidFill>
              <a:srgbClr val="190F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— Recovery, Verified.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/ 08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1051560"/>
            <a:ext cx="2331720" cy="4709160"/>
          </a:xfrm>
          <a:prstGeom prst="roundRect">
            <a:avLst>
              <a:gd name="adj" fmla="val 7059"/>
            </a:avLst>
          </a:prstGeom>
          <a:solidFill>
            <a:srgbClr val="190F09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" y="1179576"/>
            <a:ext cx="2075688" cy="4453128"/>
          </a:xfrm>
          <a:prstGeom prst="roundRect">
            <a:avLst>
              <a:gd name="adj" fmla="val 4405"/>
            </a:avLst>
          </a:prstGeom>
          <a:solidFill>
            <a:srgbClr val="241812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1344168"/>
            <a:ext cx="73152" cy="73152"/>
          </a:xfrm>
          <a:prstGeom prst="ellipse">
            <a:avLst/>
          </a:prstGeom>
          <a:solidFill>
            <a:srgbClr val="B71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6968" y="12710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655064" y="12710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ON-DEVICE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95528" y="1636776"/>
            <a:ext cx="1746504" cy="457200"/>
          </a:xfrm>
          <a:prstGeom prst="rect">
            <a:avLst/>
          </a:prstGeom>
          <a:solidFill>
            <a:srgbClr val="F2EEE6"/>
          </a:solidFill>
          <a:ln w="22225">
            <a:solidFill>
              <a:srgbClr val="B71D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" y="163677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“Drive through your knee”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40764" y="2688336"/>
            <a:ext cx="256032" cy="256032"/>
          </a:xfrm>
          <a:prstGeom prst="ellipse">
            <a:avLst/>
          </a:prstGeom>
          <a:ln w="28575">
            <a:solidFill>
              <a:srgbClr val="F2E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8780" y="2944368"/>
            <a:ext cx="-109728" cy="685800"/>
          </a:xfrm>
          <a:prstGeom prst="line">
            <a:avLst/>
          </a:prstGeom>
          <a:noFill/>
          <a:ln w="28575">
            <a:solidFill>
              <a:srgbClr val="F2E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8780" y="3054096"/>
            <a:ext cx="-365760" cy="256032"/>
          </a:xfrm>
          <a:prstGeom prst="line">
            <a:avLst/>
          </a:prstGeom>
          <a:noFill/>
          <a:ln w="25400">
            <a:solidFill>
              <a:srgbClr val="F2E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8780" y="3054096"/>
            <a:ext cx="320040" cy="201168"/>
          </a:xfrm>
          <a:prstGeom prst="line">
            <a:avLst/>
          </a:prstGeom>
          <a:noFill/>
          <a:ln w="25400">
            <a:solidFill>
              <a:srgbClr val="F2EE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95044" y="3584448"/>
            <a:ext cx="91440" cy="91440"/>
          </a:xfrm>
          <a:prstGeom prst="ellipse">
            <a:avLst/>
          </a:prstGeom>
          <a:solidFill>
            <a:srgbClr val="B71D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540764" y="3630168"/>
            <a:ext cx="-201168" cy="502920"/>
          </a:xfrm>
          <a:prstGeom prst="line">
            <a:avLst/>
          </a:prstGeom>
          <a:noFill/>
          <a:ln w="28575">
            <a:solidFill>
              <a:srgbClr val="F2E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39596" y="4133088"/>
            <a:ext cx="36576" cy="457200"/>
          </a:xfrm>
          <a:prstGeom prst="line">
            <a:avLst/>
          </a:prstGeom>
          <a:noFill/>
          <a:ln w="28575">
            <a:solidFill>
              <a:srgbClr val="F2E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40764" y="3630168"/>
            <a:ext cx="219456" cy="384048"/>
          </a:xfrm>
          <a:prstGeom prst="line">
            <a:avLst/>
          </a:prstGeom>
          <a:noFill/>
          <a:ln w="28575">
            <a:solidFill>
              <a:srgbClr val="F2EE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60220" y="4014216"/>
            <a:ext cx="-18288" cy="457200"/>
          </a:xfrm>
          <a:prstGeom prst="line">
            <a:avLst/>
          </a:prstGeom>
          <a:noFill/>
          <a:ln w="28575">
            <a:solidFill>
              <a:srgbClr val="F2EE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" y="470001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KNEE DRIVE  – – –  HIP DRIVE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95528" y="4901184"/>
            <a:ext cx="663672" cy="109728"/>
          </a:xfrm>
          <a:prstGeom prst="rect">
            <a:avLst/>
          </a:prstGeom>
          <a:solidFill>
            <a:srgbClr val="5C51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459200" y="4901184"/>
            <a:ext cx="1082832" cy="109728"/>
          </a:xfrm>
          <a:prstGeom prst="rect">
            <a:avLst/>
          </a:prstGeom>
          <a:solidFill>
            <a:srgbClr val="B71D0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95528" y="510235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PAIN TODAY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95528" y="5340096"/>
            <a:ext cx="109728" cy="109728"/>
          </a:xfrm>
          <a:prstGeom prst="ellipse">
            <a:avLst/>
          </a:prstGeom>
          <a:solidFill>
            <a:srgbClr val="B71D00"/>
          </a:solidFill>
          <a:ln w="15875">
            <a:solidFill>
              <a:srgbClr val="B71D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7392" y="5340096"/>
            <a:ext cx="109728" cy="109728"/>
          </a:xfrm>
          <a:prstGeom prst="ellipse">
            <a:avLst/>
          </a:prstGeom>
          <a:solidFill>
            <a:srgbClr val="B71D00"/>
          </a:solidFill>
          <a:ln w="15875">
            <a:solidFill>
              <a:srgbClr val="B71D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9256" y="5340096"/>
            <a:ext cx="109728" cy="109728"/>
          </a:xfrm>
          <a:prstGeom prst="ellipse">
            <a:avLst/>
          </a:prstGeom>
          <a:solidFill>
            <a:srgbClr val="B71D00"/>
          </a:solidFill>
          <a:ln w="15875">
            <a:solidFill>
              <a:srgbClr val="B71D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41120" y="5340096"/>
            <a:ext cx="109728" cy="109728"/>
          </a:xfrm>
          <a:prstGeom prst="ellipse">
            <a:avLst/>
          </a:prstGeom>
          <a:solidFill>
            <a:srgbClr val="B71D00"/>
          </a:solidFill>
          <a:ln w="15875">
            <a:solidFill>
              <a:srgbClr val="B71D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22984" y="5340096"/>
            <a:ext cx="109728" cy="109728"/>
          </a:xfrm>
          <a:prstGeom prst="ellipse">
            <a:avLst/>
          </a:prstGeom>
          <a:solidFill>
            <a:srgbClr val="241812"/>
          </a:solidFill>
          <a:ln w="15875">
            <a:solidFill>
              <a:srgbClr val="5C51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04848" y="5340096"/>
            <a:ext cx="109728" cy="109728"/>
          </a:xfrm>
          <a:prstGeom prst="ellipse">
            <a:avLst/>
          </a:prstGeom>
          <a:solidFill>
            <a:srgbClr val="241812"/>
          </a:solidFill>
          <a:ln w="15875">
            <a:solidFill>
              <a:srgbClr val="5C51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86712" y="5340096"/>
            <a:ext cx="109728" cy="109728"/>
          </a:xfrm>
          <a:prstGeom prst="ellipse">
            <a:avLst/>
          </a:prstGeom>
          <a:solidFill>
            <a:srgbClr val="241812"/>
          </a:solidFill>
          <a:ln w="15875">
            <a:solidFill>
              <a:srgbClr val="5C51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68576" y="5340096"/>
            <a:ext cx="109728" cy="109728"/>
          </a:xfrm>
          <a:prstGeom prst="ellipse">
            <a:avLst/>
          </a:prstGeom>
          <a:solidFill>
            <a:srgbClr val="241812"/>
          </a:solidFill>
          <a:ln w="15875">
            <a:solidFill>
              <a:srgbClr val="5C51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50440" y="5340096"/>
            <a:ext cx="109728" cy="109728"/>
          </a:xfrm>
          <a:prstGeom prst="ellipse">
            <a:avLst/>
          </a:prstGeom>
          <a:solidFill>
            <a:srgbClr val="241812"/>
          </a:solidFill>
          <a:ln w="15875">
            <a:solidFill>
              <a:srgbClr val="5C51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32304" y="5340096"/>
            <a:ext cx="109728" cy="109728"/>
          </a:xfrm>
          <a:prstGeom prst="ellipse">
            <a:avLst/>
          </a:prstGeom>
          <a:solidFill>
            <a:srgbClr val="241812"/>
          </a:solidFill>
          <a:ln w="15875">
            <a:solidFill>
              <a:srgbClr val="5C51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1097280"/>
            <a:ext cx="402336" cy="402336"/>
          </a:xfrm>
          <a:prstGeom prst="ellipse">
            <a:avLst/>
          </a:prstGeom>
          <a:ln w="25400">
            <a:solidFill>
              <a:srgbClr val="B71D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291840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3858768" y="1051560"/>
            <a:ext cx="7827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Stand up from a chair, phone propped up. Live skeleton overlay and a hip/knee-drive meter update every frame — on-device NPU inference, no network, no spinner.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291840" y="1874520"/>
            <a:ext cx="839419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3291840" y="2011680"/>
            <a:ext cx="402336" cy="402336"/>
          </a:xfrm>
          <a:prstGeom prst="ellipse">
            <a:avLst/>
          </a:prstGeom>
          <a:ln w="25400">
            <a:solidFill>
              <a:srgbClr val="B71D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2918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3858768" y="1965960"/>
            <a:ext cx="7827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 1: lean into the hip on purpose. The meter tips red mid-rise and the phone says so out loud, instantly — before the rep is even finished.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291840" y="2788920"/>
            <a:ext cx="839419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291840" y="2926080"/>
            <a:ext cx="402336" cy="402336"/>
          </a:xfrm>
          <a:prstGeom prst="ellipse">
            <a:avLst/>
          </a:prstGeom>
          <a:ln w="25400">
            <a:solidFill>
              <a:srgbClr val="B71D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2918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3858768" y="2880360"/>
            <a:ext cx="7827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 2: consciously correct. The meter flips back in the same ten seconds — the fix is visible, live, not simulated.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3291840" y="3703320"/>
            <a:ext cx="839419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3291840" y="3840480"/>
            <a:ext cx="402336" cy="402336"/>
          </a:xfrm>
          <a:prstGeom prst="ellipse">
            <a:avLst/>
          </a:prstGeom>
          <a:ln w="25400">
            <a:solidFill>
              <a:srgbClr val="B71D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29184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3858768" y="3794760"/>
            <a:ext cx="7827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 in by voice: “pain's about a 4 today, a bit more swollen.” Whisper Tiny transcribes it on-device.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291840" y="4617720"/>
            <a:ext cx="8394192" cy="0"/>
          </a:xfrm>
          <a:prstGeom prst="line">
            <a:avLst/>
          </a:prstGeom>
          <a:noFill/>
          <a:ln w="12700">
            <a:solidFill>
              <a:srgbClr val="D9CFBF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3291840" y="4754880"/>
            <a:ext cx="402336" cy="402336"/>
          </a:xfrm>
          <a:prstGeom prst="ellipse">
            <a:avLst/>
          </a:prstGeom>
          <a:ln w="25400">
            <a:solidFill>
              <a:srgbClr val="B71D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29184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3858768" y="4709160"/>
            <a:ext cx="7827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Because of what the camera caught live, tomorrow's plan changes — a loaded exercise locks, with a plain-language reason.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90F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"/>
            <a:ext cx="0" cy="411480"/>
          </a:xfrm>
          <a:prstGeom prst="line">
            <a:avLst/>
          </a:prstGeom>
          <a:noFill/>
          <a:ln w="25400">
            <a:solidFill>
              <a:srgbClr val="B71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Future Scope &amp; Team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5552" y="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C9BFB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iQOO HACKATHON 2026  ·  HEALTHTECH TRACK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624" y="27432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21031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50624" y="6583680"/>
            <a:ext cx="128016" cy="0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14632" y="6519672"/>
            <a:ext cx="0" cy="128016"/>
          </a:xfrm>
          <a:prstGeom prst="line">
            <a:avLst/>
          </a:prstGeom>
          <a:noFill/>
          <a:ln w="15875">
            <a:solidFill>
              <a:srgbClr val="B71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9050">
            <a:solidFill>
              <a:srgbClr val="190F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— Recovery, Verified.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6409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 / 08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10058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B71D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NOW — HACKATHON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1508760"/>
            <a:ext cx="3544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Sit-to-stand, phone-native, live correction loop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On-device vision, voice, and language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Check-in → lock → adapt daily loop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Recovery sheet export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2064" y="10058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90F0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22064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2EE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NEXT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322064" y="1508760"/>
            <a:ext cx="3544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Checkpoint-based recovery stages + patient goals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More exercises, same strategy lens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Richer end-of-session summaries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Multi-day trend 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41208" y="1005840"/>
            <a:ext cx="2011680" cy="329184"/>
          </a:xfrm>
          <a:prstGeom prst="roundRect">
            <a:avLst>
              <a:gd name="adj" fmla="val 50000"/>
            </a:avLst>
          </a:prstGeom>
          <a:ln w="15875">
            <a:solidFill>
              <a:srgbClr val="190F0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41208" y="1005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LATER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141208" y="1508760"/>
            <a:ext cx="3544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Supervising-physio escalation queue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Hospital discharge pilot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700"/>
              </a:spcAft>
              <a:buSzPct val="100000"/>
              <a:buChar char="—"/>
            </a:pPr>
            <a:r>
              <a:rPr lang="en-US" sz="10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Structured data only — still no raw video leaving the device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063240"/>
            <a:ext cx="11183112" cy="0"/>
          </a:xfrm>
          <a:prstGeom prst="line">
            <a:avLst/>
          </a:prstGeom>
          <a:noFill/>
          <a:ln w="25400">
            <a:solidFill>
              <a:srgbClr val="190F0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TEAM NAME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38770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[Team Name]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242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MEMBERS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462272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[Member 1 — Role]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[Member 2 — Role]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[Member 3 — Role]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[Member 4 — Role]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54864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C514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INSTITUTION / MENTOR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705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[Your Institution] · [Mentor Name]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343400" y="3337560"/>
            <a:ext cx="7342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2.4 billion people.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600 thousand physiotherapists.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190F0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phone every one of them 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B71D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already carries.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5120640"/>
            <a:ext cx="6976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12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RehabAI doesn't wait for more practitioners. It puts a second set of eyes on the exercise sheet — today, on the device already in the patient's hand.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2026-09-01T12:02:23Z</dcterms:created>
  <dcterms:modified xsi:type="dcterms:W3CDTF">2026-09-01T12:02:23Z</dcterms:modified>
</cp:coreProperties>
</file>